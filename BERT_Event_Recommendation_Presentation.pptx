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14F57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14F57"/>
                </a:solidFill>
                <a:latin typeface="Arial"/>
              </a:rPr>
              <a:t>Distribution of Events Across Clusters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Events per Cluster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2E8F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1F5F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1D5D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C8</c:v>
                  </c:pt>
                  <c:pt idx="1">
                    <c:v>C23</c:v>
                  </c:pt>
                  <c:pt idx="2">
                    <c:v>C1</c:v>
                  </c:pt>
                  <c:pt idx="3">
                    <c:v>C15</c:v>
                  </c:pt>
                  <c:pt idx="4">
                    <c:v>C6</c:v>
                  </c:pt>
                  <c:pt idx="5">
                    <c:v>C19</c:v>
                  </c:pt>
                  <c:pt idx="6">
                    <c:v>C2</c:v>
                  </c:pt>
                  <c:pt idx="7">
                    <c:v>C5</c:v>
                  </c:pt>
                  <c:pt idx="8">
                    <c:v>C21</c:v>
                  </c:pt>
                  <c:pt idx="9">
                    <c:v>C22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33</c:v>
                </c:pt>
                <c:pt idx="1">
                  <c:v>26</c:v>
                </c:pt>
                <c:pt idx="2">
                  <c:v>20</c:v>
                </c:pt>
                <c:pt idx="3">
                  <c:v>13</c:v>
                </c:pt>
                <c:pt idx="4">
                  <c:v>12</c:v>
                </c:pt>
                <c:pt idx="5">
                  <c:v>10</c:v>
                </c:pt>
                <c:pt idx="6">
                  <c:v>9</c:v>
                </c:pt>
                <c:pt idx="7">
                  <c:v>9</c:v>
                </c:pt>
                <c:pt idx="8">
                  <c:v>8</c:v>
                </c:pt>
                <c:pt idx="9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Cluster Quality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Cluster 8
(33 events)</c:v>
                  </c:pt>
                  <c:pt idx="1">
                    <c:v>Cluster 23
(26 events)</c:v>
                  </c:pt>
                  <c:pt idx="2">
                    <c:v>Cluster 14
(3 events)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-0.0021</c:v>
                </c:pt>
                <c:pt idx="1">
                  <c:v>0.05</c:v>
                </c:pt>
                <c:pt idx="2">
                  <c:v>0.3507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BERT-Based Event Recommendation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Cold-Start Problem with Foundation Models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research by Halimeh et al. (2023)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What We Did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Replicated Halimeh et al. foundation model approach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Implemented DistilBERT embeddings (768-dimensional)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Applied K-Means clustering (k=30) on 220 Meetup events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Evaluated cluster quality using silhouette scores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8229600" cy="2103120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Key Results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Overall: 0.052 silhouette score (moderate)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Best (C14): 3 events, 0.3507 score - focused startup cluster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Worst (C8): 33 events, -0.0021 score - vague catch-all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Finding: Small clusters excel; large clusters fail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Recommendation: Detailed descriptions essential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Overview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887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The Cold-Start Problem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Recommending events without historical user data is challenging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21031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Solution: Foundation Model Approach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Using DistilBERT to understand event content semantically</a:t>
            </a:r>
            <a:endParaRPr lang="en-US" sz="2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30175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Two-Step Methodology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1) Transform events into 768-dimensional vectors, 2) Group using K-Means clustering</a:t>
            </a:r>
            <a:endParaRPr lang="en-US" sz="2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31920"/>
            <a:ext cx="457200" cy="4572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88720" y="39319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Dataset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220 events from Meetup platform with names, categories, and organizing groups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00584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Step 1: Data Loading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Downloaded from Kaggle using kagglehub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Loaded sample.xlsx file using pandas.read_excel()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Required openpyxl library for Excel file handling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114800" cy="82296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331720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Step 2: Text Fusion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Combine event name, group name, and category into unified description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4114800" cy="82296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291840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290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Step 3: Missing Data Handling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Fill NaN values with placeholder text for robustness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3108960"/>
          </a:xfrm>
          <a:prstGeom prst="rect">
            <a:avLst/>
          </a:prstGeom>
          <a:solidFill>
            <a:srgbClr val="F8FAFC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192024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"Event Title: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JavaScript Immersive Bootcamp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. Organized by: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JavaScript and React for Beginners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. Category: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Technology"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 with DistilBERT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645920"/>
          </a:xfrm>
          <a:prstGeom prst="rect">
            <a:avLst/>
          </a:prstGeom>
          <a:solidFill>
            <a:srgbClr val="F0F7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173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Model: DistilBERT</a:t>
            </a:r>
            <a:endParaRPr lang="en-US" sz="2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distilbert-base-nli-stsb-mean-tokens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 streamlined BERT variant for sentence similarity tasks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F57"/>
                </a:solidFill>
              </a:rPr>
              <a:t>Text → Vector Transformation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12064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Input: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Natural language event descriptions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Output: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768-dimensional numerical vectors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0FDF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2918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Embedding Matrix: </a:t>
            </a:r>
            <a:endParaRPr lang="en-US" sz="20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Shape (220, 768)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220 events × 768 features = Semantic representation in high-dimensional space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887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Clustering Configuration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Algorithm: K-Means with k=30 clusters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Input: 768-dimensional embeddings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Goal: Group semantically similar events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743200"/>
          <a:ext cx="82296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37160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Known Events</a:t>
            </a:r>
            <a:endParaRPr lang="en-US" sz="20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Static Lookup Method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Find event in database → Retrieve cluster ID → Return similar events from same cluster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137160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0" y="118872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3716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New Events (Cold-Start)</a:t>
            </a:r>
            <a:endParaRPr lang="en-US" sz="20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Foundation Model Inference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Generate embedding → Predict cluster using K-Means → Return recommendations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7"/>
                </a:solidFill>
              </a:rPr>
              <a:t>Testing New Event Inference with "Startup" Events: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❌ Attempt 1: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"Startup" → </a:t>
            </a:r>
            <a:pPr indent="0" marL="0">
              <a:buNone/>
            </a:pPr>
            <a:r>
              <a:rPr lang="en-US" sz="1300" b="1" i="1" dirty="0">
                <a:solidFill>
                  <a:srgbClr val="1E293B"/>
                </a:solidFill>
              </a:rPr>
              <a:t>Cluster 14 (Score: 0.107)</a:t>
            </a:r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 - Too vague, low accuracy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⚠️ Attempt 2: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"Destructing Startup Ideas" → </a:t>
            </a:r>
            <a:pPr indent="0" marL="0">
              <a:buNone/>
            </a:pPr>
            <a:r>
              <a:rPr lang="en-US" sz="1300" b="1" i="1" dirty="0">
                <a:solidFill>
                  <a:srgbClr val="1E293B"/>
                </a:solidFill>
              </a:rPr>
              <a:t>Cluster 8 (Score: 0.044)</a:t>
            </a:r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</a:rPr>
              <a:t> - Wrong cluster!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ECFD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✓ Attempt 3: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"Advice for Startups building Business Models" → 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1E293B"/>
                </a:solidFill>
              </a:rPr>
              <a:t>Cluster 14 (Score: 0.226)</a:t>
            </a:r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 - Correctly assigned! Specific description needed.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Evaluation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Formula: </a:t>
            </a:r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(b - a) / max(a, b)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 = distance to assigned cluster center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b = distance to nearest neighboring cluster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2560320" cy="91440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175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High (&gt; 0.5)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Well-defined cluster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91840" y="2834640"/>
            <a:ext cx="2560320" cy="91440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017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Medium (0.2-0.5)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Moderate quality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26480" y="2834640"/>
            <a:ext cx="2560320" cy="914400"/>
          </a:xfrm>
          <a:prstGeom prst="rect">
            <a:avLst/>
          </a:prstGeom>
          <a:solidFill>
            <a:srgbClr val="FEE2E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0175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30175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Low (&lt; 0.2)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Vague/noisy data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Overall Dataset Silhouette Score: </a:t>
            </a:r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0.052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 (Moderate, room for improvement)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14: A Success Example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 Events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F2F1"/>
                </a:solidFill>
              </a:rPr>
              <a:t>Small, focused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7432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0.3507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F2F1"/>
                </a:solidFill>
              </a:rPr>
              <a:t>Silhouette Score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37744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234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STRONG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F2F1"/>
                </a:solidFill>
              </a:rPr>
              <a:t>High cohesion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Why This Cluster Works Well: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High silhouette score (0.35) indicates strong cluster cohesion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All events are semantically related to startups and business models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Events are closer to cluster center than to neighboring clusters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Demonstrates that small, focused clusters produce better recommendations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Events in Cluster 14: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CFD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1. "Startup" • 2. "Advice for Startups building Business Models" • 3. Related startup event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8: Largest Cluster Analysis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33 Events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F2F1"/>
                </a:solidFill>
              </a:rPr>
              <a:t>Largest cluster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74320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-0.0021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EE2E2"/>
                </a:solidFill>
              </a:rPr>
              <a:t>Silhouette Score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37744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234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VAGUE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EF3C7"/>
                </a:solidFill>
              </a:rPr>
              <a:t>Data quality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Why This Cluster is Problematic: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Negative silhouette score indicates poor cluster cohesion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Events are closer to neighboring clusters than to their assigned cluster center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Diverse event types with weak semantic similarity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Contains broad categories: Technology, Business, Startups, Programming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Sample Events in Cluster 8: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"Quantum Computing for Beginners" • "Destructing Startup Ideas" •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"JavaScript Immersive Bootcamp" • "Online Workshop: Kubernetes for Beginners"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23: Second Largest Cluster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26 Events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F2F1"/>
                </a:solidFill>
              </a:rPr>
              <a:t>2nd largest cluster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74320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~0.05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EF3C7"/>
                </a:solidFill>
              </a:rPr>
              <a:t>Estimated Score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37744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234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VAGUE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EE2E2"/>
                </a:solidFill>
              </a:rPr>
              <a:t>Similar issues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Similarities to Cluster 8: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Large cluster size suggests it became a "catch-all" for diverse events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Low silhouette score indicates weak internal cohesion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Events likely span multiple semantic categories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Recommendations from this cluster may lack precision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Cluster Size vs Quality Comparison:</a:t>
            </a:r>
            <a:endParaRPr lang="en-US" sz="1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1371600" y="4114800"/>
          <a:ext cx="6400800" cy="822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4F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Insights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BERT embeddings successfully capture semantic meaning of events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Two-step approach enables cold-start recommendations without user history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solidFill>
            <a:srgbClr val="FEF3C7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Large clusters (8, 23) show vague groupings with poor cohesion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Future work: Optimize k value or use hierarchical clustering for better precision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BERT-Based Event Recommendation System</dc:title>
  <dc:subject>PptxGenJS Presentation</dc:subject>
  <dc:creator>Research Team</dc:creator>
  <cp:lastModifiedBy>Research Team</cp:lastModifiedBy>
  <cp:revision>1</cp:revision>
  <dcterms:created xsi:type="dcterms:W3CDTF">2026-01-31T11:44:53Z</dcterms:created>
  <dcterms:modified xsi:type="dcterms:W3CDTF">2026-01-31T11:44:53Z</dcterms:modified>
</cp:coreProperties>
</file>